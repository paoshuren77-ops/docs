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4ecebf5d54082" /><Relationship Type="http://schemas.openxmlformats.org/officeDocument/2006/relationships/extended-properties" Target="/docProps/app.xml" Id="Rcddf967753a445e7" /><Relationship Type="http://schemas.openxmlformats.org/officeDocument/2006/relationships/officeDocument" Target="/ppt/presentation.xml" Id="R7ba555211387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682297c8440a7"/>
  </p:sldMasterIdLst>
  <p:notesMasterIdLst>
    <p:notesMasterId xmlns:r="http://schemas.openxmlformats.org/officeDocument/2006/relationships" r:id="Rd8644f2b651d41dc"/>
  </p:notesMasterIdLst>
  <p:sldIdLst>
    <p:sldId xmlns:r="http://schemas.openxmlformats.org/officeDocument/2006/relationships" id="256" r:id="R8a00d63e9ded4e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682297c8440a7" /><Relationship Type="http://schemas.openxmlformats.org/officeDocument/2006/relationships/theme" Target="/ppt/theme/theme1.xml" Id="R47f2cc320d584a33" /><Relationship Type="http://schemas.openxmlformats.org/officeDocument/2006/relationships/notesMaster" Target="/ppt/notesMasters/notesMaster1.xml" Id="Rd8644f2b651d41dc" /><Relationship Type="http://schemas.openxmlformats.org/officeDocument/2006/relationships/presProps" Target="/ppt/presProps.xml" Id="R5c82985682ef4949" /><Relationship Type="http://schemas.openxmlformats.org/officeDocument/2006/relationships/viewProps" Target="/ppt/viewProps.xml" Id="Rd40163765de64c86" /><Relationship Type="http://schemas.openxmlformats.org/officeDocument/2006/relationships/tableStyles" Target="/ppt/tableStyles.xml" Id="R85ed71a8010243c6" /><Relationship Type="http://schemas.openxmlformats.org/officeDocument/2006/relationships/slide" Target="/ppt/slides/slide1.xml" Id="R8a00d63e9ded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99be37c891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E Code Performance">
  <a:themeElements>
    <a:clrScheme name="WE Code Performance">
      <a:accent1>
        <a:srgbClr val="1F6FEB"/>
      </a:accent1>
      <a:accent2>
        <a:srgbClr val="13B8A6"/>
      </a:accent2>
      <a:accent3>
        <a:srgbClr val="F59E0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E Code Performa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b13ef80bb408d" /><Relationship Type="http://schemas.openxmlformats.org/officeDocument/2006/relationships/notesMaster" Target="/ppt/notesMasters/notesMaster1.xml" Id="R8cf46d5c72e0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f6a9f8b8449d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8496ED3-A186-43F1-9794-B084A0063FF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F3609AB-1895-4107-A031-732398EE28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090011-5178-422C-8103-1AA09B1DD0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08A703-DD7C-4616-81D9-9123B34C0E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A8673A-7B69-4AC9-8D77-173F70A6155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2b6acef405a431f" /><Relationship Type="http://schemas.openxmlformats.org/officeDocument/2006/relationships/slideLayout" Target="/ppt/slideLayouts/slideLayout2.xml" Id="R03d9a5eab055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120142-AC4A-49AD-BC00-178CF6ADA17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d9a5eab055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eb22e623d14f28" /><Relationship Type="http://schemas.openxmlformats.org/officeDocument/2006/relationships/notesSlide" Target="/ppt/notesSlides/notesSlide1.xml" Id="R8aba7cff2e2a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A8673A-7B69-4AC9-8D77-173F70A615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35853-CA82-4B9A-81B4-2B40EA54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6F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097A-E541-4D98-B967-C1BCC96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高性能WE码 - 长列表图文滚动加载优化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6F8-A9CE-4858-92C2-B1C89ED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485900" cy="571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4288">
            <a:solidFill>
              <a:srgbClr val="1F6F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0C49F-7B44-45F7-A5CD-6618088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5543550" cy="5334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4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B975F-B2FA-481C-8A38-EAAF4CF6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43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78C"/>
                </a:solidFill>
              </a:defRPr>
            </a:pPr>
            <a:r>
              <a:rPr sz="1275" b="0">
                <a:solidFill>
                  <a:srgbClr val="60778C"/>
                </a:solidFill>
              </a:rPr>
              <a:t>把“滚得快、渲得慢、图太多”拆成三层处理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CCC6E-B12A-4893-AB46-ADA040DB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2457450" cy="417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A17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0BE5F-A0F5-4DF5-B390-5CB428D9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2076450" cy="3543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2038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D5DC0-800C-4DB4-8905-2FB290E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62075"/>
            <a:ext cx="895350" cy="76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7566F"/>
          </a:solidFill>
          <a:ln xmlns:a="http://schemas.openxmlformats.org/drawingml/2006/main" w="14288">
            <a:solidFill>
              <a:srgbClr val="37566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63F73-EB45-4468-A0BE-7E8982FF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快速上滑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4FC2E-B9C8-470A-BE35-D4E5871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819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E0B"/>
                </a:solidFill>
              </a:defRPr>
            </a:pPr>
            <a:r>
              <a:rPr sz="1950" b="1">
                <a:solidFill>
                  <a:srgbClr val="F59E0B"/>
                </a:solidFill>
              </a:rPr>
              <a:t>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90EC6-DB2A-4B44-81D8-F3471FE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BF5A"/>
                </a:solidFill>
              </a:defRPr>
            </a:pPr>
            <a:r>
              <a:rPr sz="1500" b="1">
                <a:solidFill>
                  <a:srgbClr val="F8BF5A"/>
                </a:solidFill>
              </a:rPr>
              <a:t>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1FDF7-5D59-46C3-B14D-36D06EEC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CC79"/>
                </a:solidFill>
              </a:defRPr>
            </a:pPr>
            <a:r>
              <a:rPr sz="1350" b="1">
                <a:solidFill>
                  <a:srgbClr val="F9CC79"/>
                </a:solidFill>
              </a:rPr>
              <a:t>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7CF53-BF91-4332-86CA-78A91F28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781050" cy="11430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1D809-E7ED-418E-B308-CCD0A48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666750" cy="7810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CC7BB-8996-4F5F-A96D-4763C50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476250" cy="5905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C066F-EFBD-4CA1-8999-E5323E2F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8DB5F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766CA-EE27-4AD6-93F6-95464370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C1D0B-6EC7-4539-AF48-736B65C3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781050" cy="8763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03394-FF73-4576-A758-DE4444D9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90700"/>
            <a:ext cx="666750" cy="5143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A5C7C-3B36-4F2B-B346-428E654D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85950"/>
            <a:ext cx="476250" cy="3238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BACBD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4050C-C6A4-42CD-AA0B-9656CEF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7AD62-558E-4083-B143-E189314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616D8-1EAE-4750-A4C6-258C16D6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781050" cy="12573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2D917-3D9F-4C3F-AE49-7E98E566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666750" cy="8953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5B7AB-6C78-4B99-B061-9CF4FAE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57500"/>
            <a:ext cx="514350" cy="6286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CAA7A-0E54-4692-9142-F883C312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4381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6D81C-09C6-43B4-B4B5-7B7A8C69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86100"/>
            <a:ext cx="5143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DE6E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5501A-679C-45B5-ADD2-4CC17C7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38100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5E2AC-BC84-4F08-A61B-B8FE442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438150" cy="1524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1F6F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F6FEB"/>
                </a:solidFill>
              </a:defRPr>
            </a:pPr>
            <a:r>
              <a:rPr sz="675" b="1">
                <a:solidFill>
                  <a:srgbClr val="1F6FEB"/>
                </a:solidFill>
              </a:rPr>
              <a:t>懒加载中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332EF-CEB6-4151-A6BF-8EADE0E5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427EE-4BFB-4082-9933-4FA4E8A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A42C2-2F66-4525-9591-5EEC3463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781050" cy="9144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4EDE7-3DED-4E74-9447-6892DC05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666750" cy="5524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6859D-A4CE-4443-BE6D-41B6C85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476250" cy="3619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20CE4-494A-415C-B806-D4D1176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07919B-1C97-4B49-ACBF-D9E34259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A918D2-6023-47F2-B9BD-638DC526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781050" cy="74295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F0D38E-1A67-42C6-B283-83117E3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666750" cy="3810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03AA51-96ED-4EE2-BE62-F94F042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514350" cy="1143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1C050F-B9CB-4268-ADDD-45D7E66B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4381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CB06-A20B-4F48-9695-A6E52D16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5143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DE6E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1A8D13-6A9A-4FFD-ABBB-B474AB65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38100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321848-E07D-434E-836A-EF7C8CB0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438150" cy="1524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1F6F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F6FEB"/>
                </a:solidFill>
              </a:defRPr>
            </a:pPr>
            <a:r>
              <a:rPr sz="675" b="1">
                <a:solidFill>
                  <a:srgbClr val="1F6FEB"/>
                </a:solidFill>
              </a:rPr>
              <a:t>懒加载中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5F5F47-7BD3-4F8E-8036-25583A33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DBE6C7-7B70-48A9-87FA-33DCFA0B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FC95E8-27BD-409E-8263-AE6A1BD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781050" cy="66675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355926-1DDF-464D-A7BE-D7E8F520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666750" cy="3048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2D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4AB215-778E-4188-81FB-EADE4A5B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476250" cy="1143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FFD89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49443B-8D37-4D06-BDB5-12BD5B28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95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455C8C-C085-4913-8502-12FB444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AF7669-D753-4D04-A924-CC347D0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1752600" cy="2286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顶部白屏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E5FCF3-C72D-4C8E-9533-0AB65ACC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752600" cy="2286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底部白屏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FFE3CB-DABF-478C-AA1A-8138825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647700" cy="2286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2D4"/>
          </a:solidFill>
          <a:ln xmlns:a="http://schemas.openxmlformats.org/drawingml/2006/main" w="14288">
            <a:solidFill>
              <a:srgbClr val="F59E0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5B00"/>
                </a:solidFill>
              </a:defRPr>
            </a:pPr>
            <a:r>
              <a:rPr sz="975" b="1">
                <a:solidFill>
                  <a:srgbClr val="9A5B00"/>
                </a:solidFill>
              </a:rPr>
              <a:t>GPU紧张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B0535D-8BC5-406A-B1C8-E27A0AC8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双列瀑布流图文列表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8AB169-75D7-4650-BD36-0EEFFD5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57350"/>
            <a:ext cx="2190750" cy="838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1F6FEB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255EB3-1923-481D-A81D-401ED8C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3FF3BD-DC79-4743-ABA2-A6CA0082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1927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047"/>
                </a:solidFill>
              </a:defRPr>
            </a:pPr>
            <a:r>
              <a:rPr sz="1500" b="1">
                <a:solidFill>
                  <a:srgbClr val="163047"/>
                </a:solidFill>
              </a:rPr>
              <a:t>滚动节奏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03E361-3666-4BDA-92FD-6C1D95B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91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C"/>
                </a:solidFill>
              </a:defRPr>
            </a:pPr>
            <a:r>
              <a:rPr sz="1050" b="0">
                <a:solidFill>
                  <a:srgbClr val="60778C"/>
                </a:solidFill>
              </a:rPr>
              <a:t>Transform帧动画 + 阻尼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833EF3-CFC0-4FEC-82D7-EBB81FBF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33700"/>
            <a:ext cx="2190750" cy="838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2FAF6"/>
          </a:solidFill>
          <a:ln xmlns:a="http://schemas.openxmlformats.org/drawingml/2006/main" w="14288">
            <a:solidFill>
              <a:srgbClr val="13B8A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D7D3F4-64EE-4FCB-827C-9FF8F5BE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366E33-0ABC-4822-B846-7785756D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047"/>
                </a:solidFill>
              </a:defRPr>
            </a:pPr>
            <a:r>
              <a:rPr sz="1500" b="1">
                <a:solidFill>
                  <a:srgbClr val="163047"/>
                </a:solidFill>
              </a:rPr>
              <a:t>只渲染窗口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6CAB81-C292-4CF9-B630-2520845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98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C"/>
                </a:solidFill>
              </a:defRPr>
            </a:pPr>
            <a:r>
              <a:rPr sz="1050" b="0">
                <a:solidFill>
                  <a:srgbClr val="60778C"/>
                </a:solidFill>
              </a:rPr>
              <a:t>虚拟列表减少DOM与图片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7AFC52-AFAC-4627-A097-C2F0166B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2190750" cy="838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2D4"/>
          </a:solidFill>
          <a:ln xmlns:a="http://schemas.openxmlformats.org/drawingml/2006/main" w="14288">
            <a:solidFill>
              <a:srgbClr val="F59E0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33409F-14C3-44F3-B07D-CF47C2D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F9D271-5EEC-4A31-ADDB-898047B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7197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047"/>
                </a:solidFill>
              </a:defRPr>
            </a:pPr>
            <a:r>
              <a:rPr sz="1500" b="1">
                <a:solidFill>
                  <a:srgbClr val="163047"/>
                </a:solidFill>
              </a:rPr>
              <a:t>图片后台处理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1F3ED4-843D-4BCE-B4BF-8865BEC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98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C"/>
                </a:solidFill>
              </a:defRPr>
            </a:pPr>
            <a:r>
              <a:rPr sz="1050" b="0">
                <a:solidFill>
                  <a:srgbClr val="60778C"/>
                </a:solidFill>
              </a:rPr>
              <a:t>Worker独立线程解码渲染</a:t>
            </a:r>
          </a:p>
        </p:txBody>
      </p:sp>
      <p:cxnSp>
        <p:nvCxnSpPr>
          <p:cNvPr id="68" name=""/>
          <p:cNvCxnSpPr>
            <a:stCxn xmlns:a="http://schemas.openxmlformats.org/drawingml/2006/main" id="8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V="1">
            <a:off x="1066800" y="2076450"/>
            <a:ext cx="4781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F6FEB"/>
            </a:solidFill>
            <a:prstDash val="solid"/>
            <a:headEnd type="arrow" w="med" len="med"/>
          </a:ln>
        </p:spPr>
      </p:cxnSp>
      <p:cxnSp>
        <p:nvCxnSpPr>
          <p:cNvPr id="69" name=""/>
          <p:cNvCxnSpPr>
            <a:stCxn xmlns:a="http://schemas.openxmlformats.org/drawingml/2006/main" id="8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>
            <a:off x="1066800" y="3276600"/>
            <a:ext cx="478155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3B8A6"/>
            </a:solidFill>
            <a:prstDash val="solid"/>
            <a:headEnd type="arrow" w="med" len="med"/>
          </a:ln>
        </p:spPr>
      </p:cxnSp>
      <p:cxnSp>
        <p:nvCxnSpPr>
          <p:cNvPr id="70" name=""/>
          <p:cNvCxnSpPr>
            <a:stCxn xmlns:a="http://schemas.openxmlformats.org/drawingml/2006/main" id="8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>
            <a:off x="1066800" y="3276600"/>
            <a:ext cx="47815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59E0B"/>
            </a:solidFill>
            <a:prstDash val="solid"/>
            <a:headEnd type="arrow" w="med" len="me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68306D-AF4F-4A26-B204-15E9D4B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3524250" cy="3619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FF8"/>
          </a:solidFill>
          <a:ln xmlns:a="http://schemas.openxmlformats.org/drawingml/2006/main" w="14288">
            <a:solidFill>
              <a:srgbClr val="13B8A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7A6E"/>
                </a:solidFill>
              </a:defRPr>
            </a:pPr>
            <a:r>
              <a:rPr sz="1125" b="1">
                <a:solidFill>
                  <a:srgbClr val="067A6E"/>
                </a:solidFill>
              </a:rPr>
              <a:t>结果：滚动稳定、首屏不白、长列表不卡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7D634D-CD1B-4201-8695-4648650B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573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</a:defRPr>
            </a:pPr>
            <a:r>
              <a:rPr sz="3150" b="1">
                <a:solidFill>
                  <a:srgbClr val="0B1F33"/>
                </a:solidFill>
              </a:rPr>
              <a:t>关键举措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1E3FD6-DD27-43BF-A095-3792328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1009650" cy="571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14288">
            <a:solidFill>
              <a:srgbClr val="13B8A6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9AB637-711D-4BF2-9AA9-27EDFC5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48C0BF-0AA3-4234-8DC9-1154D8A0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7"/>
                </a:solidFill>
              </a:defRPr>
            </a:pPr>
            <a:r>
              <a:rPr sz="1800" b="1">
                <a:solidFill>
                  <a:srgbClr val="163047"/>
                </a:solidFill>
              </a:rPr>
              <a:t>控制滚动速度，减少白屏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1D9285-47B1-4E68-A816-05DE054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38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8C"/>
                </a:solidFill>
              </a:defRPr>
            </a:pPr>
            <a:r>
              <a:rPr sz="1350" b="0">
                <a:solidFill>
                  <a:srgbClr val="60778C"/>
                </a:solidFill>
              </a:rPr>
              <a:t>用 Transform 帧动画叠加阻尼系数，缓冲原生滚动过快带来的渲染追不上问题。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7A05D8-3F46-4F63-8790-C63179D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A68A8D-56FD-4D13-96FD-8A49D16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7"/>
                </a:solidFill>
              </a:defRPr>
            </a:pPr>
            <a:r>
              <a:rPr sz="1800" b="1">
                <a:solidFill>
                  <a:srgbClr val="163047"/>
                </a:solidFill>
              </a:rPr>
              <a:t>虚拟列表，只保留可见内容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7C2C0C-4DCD-4ED3-B5CD-D5629C1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8C"/>
                </a:solidFill>
              </a:defRPr>
            </a:pPr>
            <a:r>
              <a:rPr sz="1350" b="0">
                <a:solidFill>
                  <a:srgbClr val="60778C"/>
                </a:solidFill>
              </a:rPr>
              <a:t>列表再长也只渲染视口附近元素，降低 DOM、内存、GPU 压力，并减少图片排队下载。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9F0174-7FE4-402C-8A1F-459343FC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3CD7D1-9E02-41F5-812E-44DBB3D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815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7"/>
                </a:solidFill>
              </a:defRPr>
            </a:pPr>
            <a:r>
              <a:rPr sz="1800" b="1">
                <a:solidFill>
                  <a:srgbClr val="163047"/>
                </a:solidFill>
              </a:rPr>
              <a:t>图片交给 Worker 后台处理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A4A369-5AB6-4290-8EF7-15BCDE0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244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8C"/>
                </a:solidFill>
              </a:defRPr>
            </a:pPr>
            <a:r>
              <a:rPr sz="1350" b="0">
                <a:solidFill>
                  <a:srgbClr val="60778C"/>
                </a:solidFill>
              </a:rPr>
              <a:t>大图下载与解码放到独立线程，避免滚动主线程被阻塞，稳定 FPS、减少掉帧。</a:t>
            </a:r>
          </a:p>
        </p:txBody>
      </p:sp>
    </p:spTree>
    <p:extLst>
      <p:ext uri="{BB962C8B-B14F-4D97-AF65-F5344CB8AC3E}">
        <p14:creationId xmlns:p14="http://schemas.microsoft.com/office/powerpoint/2010/main" val="974315432"/>
      </p:ext>
    </p:extLst>
  </p:cSld>
</p:sld>
</file>

<file path=ppt/theme/theme1.xml><?xml version="1.0" encoding="utf-8"?>
<a:theme xmlns:a="http://schemas.openxmlformats.org/drawingml/2006/main" name="WE Code Performance">
  <a:themeElements>
    <a:clrScheme name="WE Code Performance">
      <a:accent1>
        <a:srgbClr val="1F6FEB"/>
      </a:accent1>
      <a:accent2>
        <a:srgbClr val="13B8A6"/>
      </a:accent2>
      <a:accent3>
        <a:srgbClr val="F59E0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E Code Performa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2026-04-24T07:56:28.9960000Z</dcterms:created>
  <dcterms:modified xsi:type="dcterms:W3CDTF">2026-04-24T07:56:28.9960000Z</dcterms:modified>
</coreProperties>
</file>