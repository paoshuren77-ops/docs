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9583067afa3421f" /><Relationship Type="http://schemas.openxmlformats.org/officeDocument/2006/relationships/extended-properties" Target="/docProps/app.xml" Id="Re301f994fe01421b" /><Relationship Type="http://schemas.openxmlformats.org/officeDocument/2006/relationships/officeDocument" Target="/ppt/presentation.xml" Id="R68cf6801e1654f5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7e12abecfe84bb2"/>
  </p:sldMasterIdLst>
  <p:notesMasterIdLst>
    <p:notesMasterId xmlns:r="http://schemas.openxmlformats.org/officeDocument/2006/relationships" r:id="Ra7d5c1d734d04a32"/>
  </p:notesMasterIdLst>
  <p:sldIdLst>
    <p:sldId xmlns:r="http://schemas.openxmlformats.org/officeDocument/2006/relationships" id="256" r:id="R17897a43f79e420f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7e12abecfe84bb2" /><Relationship Type="http://schemas.openxmlformats.org/officeDocument/2006/relationships/theme" Target="/ppt/theme/theme1.xml" Id="R2b354fc3f1754778" /><Relationship Type="http://schemas.openxmlformats.org/officeDocument/2006/relationships/notesMaster" Target="/ppt/notesMasters/notesMaster1.xml" Id="Ra7d5c1d734d04a32" /><Relationship Type="http://schemas.openxmlformats.org/officeDocument/2006/relationships/presProps" Target="/ppt/presProps.xml" Id="Ra43484a895a34dff" /><Relationship Type="http://schemas.openxmlformats.org/officeDocument/2006/relationships/viewProps" Target="/ppt/viewProps.xml" Id="R435c2d96e07f42c3" /><Relationship Type="http://schemas.openxmlformats.org/officeDocument/2006/relationships/tableStyles" Target="/ppt/tableStyles.xml" Id="Rda8d3aa28cd244ff" /><Relationship Type="http://schemas.openxmlformats.org/officeDocument/2006/relationships/slide" Target="/ppt/slides/slide1.xml" Id="R17897a43f79e420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c1724939625a46b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WE Code Performance">
  <a:themeElements>
    <a:clrScheme name="WE Code Performance">
      <a:accent1>
        <a:srgbClr val="1F6FEB"/>
      </a:accent1>
      <a:accent2>
        <a:srgbClr val="13B8A6"/>
      </a:accent2>
      <a:accent3>
        <a:srgbClr val="F59E0B"/>
      </a:accent3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WE Code Performan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226c60aaf134af1" /><Relationship Type="http://schemas.openxmlformats.org/officeDocument/2006/relationships/notesMaster" Target="/ppt/notesMasters/notesMaster1.xml" Id="R62feb834535e448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e3403af171746b5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 1">
            <a:extLst xmlns:a="http://schemas.openxmlformats.org/drawingml/2006/main">
              <a:ext uri="{FF2B5EF4-FFF2-40B4-BE49-F238E27FC236}">
                <a16:creationId xmlns:a16="http://schemas.microsoft.com/office/drawing/2014/main" id="{FF3010B8-D169-409A-BEB3-8BE2002632DB}"/>
              </a:ext>
            </a:extLst>
          </p:cNvPr>
          <p:cNvSpPr/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/>
        </p:txBody>
      </p:sp>
      <p:sp>
        <p:nvSpPr>
          <p:cNvPr id="2" name="Subtitle 2">
            <a:extLst xmlns:a="http://schemas.openxmlformats.org/drawingml/2006/main">
              <a:ext uri="{FF2B5EF4-FFF2-40B4-BE49-F238E27FC236}">
                <a16:creationId xmlns:a16="http://schemas.microsoft.com/office/drawing/2014/main" id="{94A07879-A1FE-42A2-978E-2DE08610BBEC}"/>
              </a:ext>
            </a:extLst>
          </p:cNvPr>
          <p:cNvSpPr/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3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A897FD7-2548-452A-98FF-03FB31EE7DC3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8388BE6-8964-47EE-97BE-190C703E06D7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FA82344-2017-495C-A16C-64B034686BA2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40c5cd50cabc43c0" /><Relationship Type="http://schemas.openxmlformats.org/officeDocument/2006/relationships/slideLayout" Target="/ppt/slideLayouts/slideLayout2.xml" Id="Rc3622cf3e8974fd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78715B3-4BA9-41A3-9823-215DCCB86B68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3622cf3e8974fd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9bd5d8cbf204a2e" /><Relationship Type="http://schemas.openxmlformats.org/officeDocument/2006/relationships/notesSlide" Target="/ppt/notesSlides/notesSlide1.xml" Id="R299449116c8947e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3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FA82344-2017-495C-A16C-64B034686BA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AA44C9-1F23-4B83-877B-9841C5273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228600"/>
            <a:ext cx="11734800" cy="64008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6F2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49F354-4CE9-4FDF-9B91-610DAA004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7239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B1F33"/>
                </a:solidFill>
              </a:defRPr>
            </a:pPr>
            <a:r>
              <a:rPr sz="2175" b="1">
                <a:solidFill>
                  <a:srgbClr val="0B1F33"/>
                </a:solidFill>
              </a:rPr>
              <a:t>高性能WE码 - 长列表图文滚动加载优化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D06551-C86B-4E48-BB42-762EA3066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57250"/>
            <a:ext cx="1485900" cy="57150"/>
          </a:xfrm>
          <a:prstGeom xmlns:a="http://schemas.openxmlformats.org/drawingml/2006/main" prst="roundRect">
            <a:avLst>
              <a:gd name="adj" fmla="val 3000"/>
            </a:avLst>
          </a:prstGeom>
          <a:solidFill xmlns:a="http://schemas.openxmlformats.org/drawingml/2006/main">
            <a:srgbClr val="1F6FEB"/>
          </a:solidFill>
          <a:ln xmlns:a="http://schemas.openxmlformats.org/drawingml/2006/main" w="14288">
            <a:solidFill>
              <a:srgbClr val="1F6FEB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9A5960-2D41-4237-A4DB-985EF9EE1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14400"/>
            <a:ext cx="5543550" cy="53340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8E4EF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017A15-88F1-4269-844B-AA0D6423D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143000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778C"/>
                </a:solidFill>
              </a:defRPr>
            </a:pPr>
            <a:r>
              <a:rPr sz="1275" b="0">
                <a:solidFill>
                  <a:srgbClr val="60778C"/>
                </a:solidFill>
              </a:rPr>
              <a:t>把“滚得快、渲得慢、图太多”拆成三层处理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6D82E0-2CC8-4D9E-8835-90308060D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238250"/>
            <a:ext cx="2457450" cy="41719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14288">
            <a:solidFill>
              <a:srgbClr val="0A172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F23D0F-0A9A-4458-88B8-6135CD463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504950"/>
            <a:ext cx="2076450" cy="35433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4288">
            <a:solidFill>
              <a:srgbClr val="20384D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D6C5A7-4E44-4911-B69B-271057663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1362075"/>
            <a:ext cx="895350" cy="762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37566F"/>
          </a:solidFill>
          <a:ln xmlns:a="http://schemas.openxmlformats.org/drawingml/2006/main" w="14288">
            <a:solidFill>
              <a:srgbClr val="37566F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0DA1D8-DE89-4C17-B176-6D0E5D9BF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43100"/>
            <a:ext cx="685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59E0B"/>
                </a:solidFill>
              </a:defRPr>
            </a:pPr>
            <a:r>
              <a:rPr sz="1050" b="1">
                <a:solidFill>
                  <a:srgbClr val="F59E0B"/>
                </a:solidFill>
              </a:rPr>
              <a:t>快速上滑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9712C2-345B-42B7-8730-21DBE2E3C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88199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59E0B"/>
                </a:solidFill>
              </a:defRPr>
            </a:pPr>
            <a:r>
              <a:rPr sz="1950" b="1">
                <a:solidFill>
                  <a:srgbClr val="F59E0B"/>
                </a:solidFill>
              </a:rPr>
              <a:t>↑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F0E218-F2FA-4D05-851E-BF83BECFA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003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98279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8BF5A"/>
                </a:solidFill>
              </a:defRPr>
            </a:pPr>
            <a:r>
              <a:rPr sz="1500" b="1">
                <a:solidFill>
                  <a:srgbClr val="F8BF5A"/>
                </a:solidFill>
              </a:rPr>
              <a:t>↑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B868E5-CEAB-4B8E-8FD6-FFB0C78B8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908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9CC79"/>
                </a:solidFill>
              </a:defRPr>
            </a:pPr>
            <a:r>
              <a:rPr sz="1350" b="1">
                <a:solidFill>
                  <a:srgbClr val="F9CC79"/>
                </a:solidFill>
              </a:rPr>
              <a:t>↑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9E3BEE-6624-446A-AA2D-B3409CD63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733550"/>
            <a:ext cx="781050" cy="1143000"/>
          </a:xfrm>
          <a:prstGeom xmlns:a="http://schemas.openxmlformats.org/drawingml/2006/main" prst="roundRect">
            <a:avLst>
              <a:gd name="adj" fmla="val 26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CE7F2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5FF6FE-2227-477B-BCB1-5769C2F2A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1790700"/>
            <a:ext cx="666750" cy="781050"/>
          </a:xfrm>
          <a:prstGeom xmlns:a="http://schemas.openxmlformats.org/drawingml/2006/main" prst="roundRect">
            <a:avLst>
              <a:gd name="adj" fmla="val 2200"/>
            </a:avLst>
          </a:prstGeom>
          <a:solidFill xmlns:a="http://schemas.openxmlformats.org/drawingml/2006/main">
            <a:srgbClr val="E7F0FF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760288-943D-4F85-AD8A-ABF20E7D4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885950"/>
            <a:ext cx="476250" cy="590550"/>
          </a:xfrm>
          <a:prstGeom xmlns:a="http://schemas.openxmlformats.org/drawingml/2006/main" prst="roundRect">
            <a:avLst>
              <a:gd name="adj" fmla="val 1800"/>
            </a:avLst>
          </a:prstGeom>
          <a:solidFill xmlns:a="http://schemas.openxmlformats.org/drawingml/2006/main">
            <a:srgbClr val="1F6FEB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0AA61A-B8FD-4338-8466-A1E8B05B6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647950"/>
            <a:ext cx="609600" cy="57150"/>
          </a:xfrm>
          <a:prstGeom xmlns:a="http://schemas.openxmlformats.org/drawingml/2006/main" prst="roundRect">
            <a:avLst>
              <a:gd name="adj" fmla="val 1000"/>
            </a:avLst>
          </a:prstGeom>
          <a:solidFill xmlns:a="http://schemas.openxmlformats.org/drawingml/2006/main">
            <a:srgbClr val="8DB5F8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3FD9D2-61E3-4EE5-B4F7-EDADEA6F4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743200"/>
            <a:ext cx="495300" cy="47625"/>
          </a:xfrm>
          <a:prstGeom xmlns:a="http://schemas.openxmlformats.org/drawingml/2006/main" prst="roundRect">
            <a:avLst>
              <a:gd name="adj" fmla="val 1000"/>
            </a:avLst>
          </a:prstGeom>
          <a:solidFill xmlns:a="http://schemas.openxmlformats.org/drawingml/2006/main">
            <a:srgbClr val="D6E0EA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F5C0079-5551-4B64-B28F-44DE0428A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1733550"/>
            <a:ext cx="781050" cy="876300"/>
          </a:xfrm>
          <a:prstGeom xmlns:a="http://schemas.openxmlformats.org/drawingml/2006/main" prst="roundRect">
            <a:avLst>
              <a:gd name="adj" fmla="val 26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CE7F2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B6DB445-F035-4D79-9650-F46F811EC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1790700"/>
            <a:ext cx="666750" cy="514350"/>
          </a:xfrm>
          <a:prstGeom xmlns:a="http://schemas.openxmlformats.org/drawingml/2006/main" prst="roundRect">
            <a:avLst>
              <a:gd name="adj" fmla="val 2200"/>
            </a:avLst>
          </a:prstGeom>
          <a:solidFill xmlns:a="http://schemas.openxmlformats.org/drawingml/2006/main">
            <a:srgbClr val="F5F8FC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D8B57DF-AB7E-4AC2-B8DA-C0EB9F4F1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1885950"/>
            <a:ext cx="476250" cy="323850"/>
          </a:xfrm>
          <a:prstGeom xmlns:a="http://schemas.openxmlformats.org/drawingml/2006/main" prst="roundRect">
            <a:avLst>
              <a:gd name="adj" fmla="val 1800"/>
            </a:avLst>
          </a:prstGeom>
          <a:solidFill xmlns:a="http://schemas.openxmlformats.org/drawingml/2006/main">
            <a:srgbClr val="BACBDC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9C3E025-E254-4B8E-A691-5E5E67187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381250"/>
            <a:ext cx="609600" cy="57150"/>
          </a:xfrm>
          <a:prstGeom xmlns:a="http://schemas.openxmlformats.org/drawingml/2006/main" prst="roundRect">
            <a:avLst>
              <a:gd name="adj" fmla="val 1000"/>
            </a:avLst>
          </a:prstGeom>
          <a:solidFill xmlns:a="http://schemas.openxmlformats.org/drawingml/2006/main">
            <a:srgbClr val="CCD8E4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ABA60E4-EFE0-4226-9A81-28A549C14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476500"/>
            <a:ext cx="495300" cy="47625"/>
          </a:xfrm>
          <a:prstGeom xmlns:a="http://schemas.openxmlformats.org/drawingml/2006/main" prst="roundRect">
            <a:avLst>
              <a:gd name="adj" fmla="val 1000"/>
            </a:avLst>
          </a:prstGeom>
          <a:solidFill xmlns:a="http://schemas.openxmlformats.org/drawingml/2006/main">
            <a:srgbClr val="D6E0EA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A02C190-C516-44A0-9653-09523BF8D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705100"/>
            <a:ext cx="781050" cy="1257300"/>
          </a:xfrm>
          <a:prstGeom xmlns:a="http://schemas.openxmlformats.org/drawingml/2006/main" prst="roundRect">
            <a:avLst>
              <a:gd name="adj" fmla="val 26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CE7F2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535EEE8-880E-4A19-A62C-C4971E60A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2762250"/>
            <a:ext cx="666750" cy="895350"/>
          </a:xfrm>
          <a:prstGeom xmlns:a="http://schemas.openxmlformats.org/drawingml/2006/main" prst="roundRect">
            <a:avLst>
              <a:gd name="adj" fmla="val 2200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181ECF6-07D1-400D-BBBC-CC40CB81E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2857500"/>
            <a:ext cx="514350" cy="628650"/>
          </a:xfrm>
          <a:prstGeom xmlns:a="http://schemas.openxmlformats.org/drawingml/2006/main" prst="roundRect">
            <a:avLst>
              <a:gd name="adj" fmla="val 1800"/>
            </a:avLst>
          </a:prstGeom>
          <a:solidFill xmlns:a="http://schemas.openxmlformats.org/drawingml/2006/main">
            <a:srgbClr val="E7EEF5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A0C2837-A50F-451D-BC31-A2256573B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933700"/>
            <a:ext cx="438150" cy="95250"/>
          </a:xfrm>
          <a:prstGeom xmlns:a="http://schemas.openxmlformats.org/drawingml/2006/main" prst="roundRect">
            <a:avLst>
              <a:gd name="adj" fmla="val 1200"/>
            </a:avLst>
          </a:prstGeom>
          <a:solidFill xmlns:a="http://schemas.openxmlformats.org/drawingml/2006/main">
            <a:srgbClr val="D6E0EA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8E71F39-807D-4CB2-A1EA-F98A773F9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086100"/>
            <a:ext cx="514350" cy="95250"/>
          </a:xfrm>
          <a:prstGeom xmlns:a="http://schemas.openxmlformats.org/drawingml/2006/main" prst="roundRect">
            <a:avLst>
              <a:gd name="adj" fmla="val 1200"/>
            </a:avLst>
          </a:prstGeom>
          <a:solidFill xmlns:a="http://schemas.openxmlformats.org/drawingml/2006/main">
            <a:srgbClr val="DDE6EE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9803C12-857E-4410-A696-79B4BF738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238500"/>
            <a:ext cx="381000" cy="95250"/>
          </a:xfrm>
          <a:prstGeom xmlns:a="http://schemas.openxmlformats.org/drawingml/2006/main" prst="roundRect">
            <a:avLst>
              <a:gd name="adj" fmla="val 1200"/>
            </a:avLst>
          </a:prstGeom>
          <a:solidFill xmlns:a="http://schemas.openxmlformats.org/drawingml/2006/main">
            <a:srgbClr val="D6E0EA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DF5C8B7-DC63-43AC-A16C-0DAA5335B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409950"/>
            <a:ext cx="552450" cy="152400"/>
          </a:xfrm>
          <a:prstGeom xmlns:a="http://schemas.openxmlformats.org/drawingml/2006/main" prst="roundRect">
            <a:avLst>
              <a:gd name="adj" fmla="val 1800"/>
            </a:avLst>
          </a:prstGeom>
          <a:solidFill xmlns:a="http://schemas.openxmlformats.org/drawingml/2006/main">
            <a:srgbClr val="E7F0FF"/>
          </a:solidFill>
          <a:ln xmlns:a="http://schemas.openxmlformats.org/drawingml/2006/main" w="14288">
            <a:solidFill>
              <a:srgbClr val="1F6FEB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1F6FEB"/>
                </a:solidFill>
              </a:defRPr>
            </a:pPr>
            <a:r>
              <a:rPr sz="600" b="1">
                <a:solidFill>
                  <a:srgbClr val="1F6FEB"/>
                </a:solidFill>
              </a:rPr>
              <a:t>懒加载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35A5A51-E929-46B5-BD31-1B64A9B97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733800"/>
            <a:ext cx="609600" cy="57150"/>
          </a:xfrm>
          <a:prstGeom xmlns:a="http://schemas.openxmlformats.org/drawingml/2006/main" prst="roundRect">
            <a:avLst>
              <a:gd name="adj" fmla="val 1000"/>
            </a:avLst>
          </a:prstGeom>
          <a:solidFill xmlns:a="http://schemas.openxmlformats.org/drawingml/2006/main">
            <a:srgbClr val="CCD8E4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21E7863-0EEF-42BC-8786-211EC7DB8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829050"/>
            <a:ext cx="495300" cy="47625"/>
          </a:xfrm>
          <a:prstGeom xmlns:a="http://schemas.openxmlformats.org/drawingml/2006/main" prst="roundRect">
            <a:avLst>
              <a:gd name="adj" fmla="val 1000"/>
            </a:avLst>
          </a:prstGeom>
          <a:solidFill xmlns:a="http://schemas.openxmlformats.org/drawingml/2006/main">
            <a:srgbClr val="D6E0EA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5A1E97C-E0AF-4A36-A8EC-C2633EC73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971800"/>
            <a:ext cx="781050" cy="914400"/>
          </a:xfrm>
          <a:prstGeom xmlns:a="http://schemas.openxmlformats.org/drawingml/2006/main" prst="roundRect">
            <a:avLst>
              <a:gd name="adj" fmla="val 26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CE7F2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C4AAA16-F869-4A41-B255-3955D66E4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028950"/>
            <a:ext cx="666750" cy="552450"/>
          </a:xfrm>
          <a:prstGeom xmlns:a="http://schemas.openxmlformats.org/drawingml/2006/main" prst="roundRect">
            <a:avLst>
              <a:gd name="adj" fmla="val 2200"/>
            </a:avLst>
          </a:prstGeom>
          <a:solidFill xmlns:a="http://schemas.openxmlformats.org/drawingml/2006/main">
            <a:srgbClr val="F5F8FC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220CE87-D31D-4030-92E5-4F3ADF979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124200"/>
            <a:ext cx="476250" cy="361950"/>
          </a:xfrm>
          <a:prstGeom xmlns:a="http://schemas.openxmlformats.org/drawingml/2006/main" prst="roundRect">
            <a:avLst>
              <a:gd name="adj" fmla="val 1800"/>
            </a:avLst>
          </a:prstGeom>
          <a:solidFill xmlns:a="http://schemas.openxmlformats.org/drawingml/2006/main">
            <a:srgbClr val="CCD8E4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0EEB932-AF69-49F7-A5EE-F67CD2208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657600"/>
            <a:ext cx="609600" cy="57150"/>
          </a:xfrm>
          <a:prstGeom xmlns:a="http://schemas.openxmlformats.org/drawingml/2006/main" prst="roundRect">
            <a:avLst>
              <a:gd name="adj" fmla="val 1000"/>
            </a:avLst>
          </a:prstGeom>
          <a:solidFill xmlns:a="http://schemas.openxmlformats.org/drawingml/2006/main">
            <a:srgbClr val="CCD8E4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26297AF-488B-42A1-82CE-E88659B52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752850"/>
            <a:ext cx="495300" cy="47625"/>
          </a:xfrm>
          <a:prstGeom xmlns:a="http://schemas.openxmlformats.org/drawingml/2006/main" prst="roundRect">
            <a:avLst>
              <a:gd name="adj" fmla="val 1000"/>
            </a:avLst>
          </a:prstGeom>
          <a:solidFill xmlns:a="http://schemas.openxmlformats.org/drawingml/2006/main">
            <a:srgbClr val="D6E0EA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9C275F5-F688-4631-8059-D8672A405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981450"/>
            <a:ext cx="781050" cy="742950"/>
          </a:xfrm>
          <a:prstGeom xmlns:a="http://schemas.openxmlformats.org/drawingml/2006/main" prst="roundRect">
            <a:avLst>
              <a:gd name="adj" fmla="val 26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CE7F2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CE128B8-7421-4072-B418-E6818429A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038600"/>
            <a:ext cx="666750" cy="381000"/>
          </a:xfrm>
          <a:prstGeom xmlns:a="http://schemas.openxmlformats.org/drawingml/2006/main" prst="roundRect">
            <a:avLst>
              <a:gd name="adj" fmla="val 2200"/>
            </a:avLst>
          </a:prstGeom>
          <a:solidFill xmlns:a="http://schemas.openxmlformats.org/drawingml/2006/main">
            <a:srgbClr val="EEF4FA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6FBB5F8-8FD4-407A-8ECC-D78886640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133850"/>
            <a:ext cx="514350" cy="114300"/>
          </a:xfrm>
          <a:prstGeom xmlns:a="http://schemas.openxmlformats.org/drawingml/2006/main" prst="roundRect">
            <a:avLst>
              <a:gd name="adj" fmla="val 1800"/>
            </a:avLst>
          </a:prstGeom>
          <a:solidFill xmlns:a="http://schemas.openxmlformats.org/drawingml/2006/main">
            <a:srgbClr val="E7EEF5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E89CA03-74A0-4F45-AF2C-D066665DF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210050"/>
            <a:ext cx="438150" cy="95250"/>
          </a:xfrm>
          <a:prstGeom xmlns:a="http://schemas.openxmlformats.org/drawingml/2006/main" prst="roundRect">
            <a:avLst>
              <a:gd name="adj" fmla="val 1200"/>
            </a:avLst>
          </a:prstGeom>
          <a:solidFill xmlns:a="http://schemas.openxmlformats.org/drawingml/2006/main">
            <a:srgbClr val="D6E0EA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000C4F8-8FE1-47A2-B99A-CA487063D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362450"/>
            <a:ext cx="514350" cy="95250"/>
          </a:xfrm>
          <a:prstGeom xmlns:a="http://schemas.openxmlformats.org/drawingml/2006/main" prst="roundRect">
            <a:avLst>
              <a:gd name="adj" fmla="val 1200"/>
            </a:avLst>
          </a:prstGeom>
          <a:solidFill xmlns:a="http://schemas.openxmlformats.org/drawingml/2006/main">
            <a:srgbClr val="DDE6EE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65A66A4-6C8C-4741-B684-D2FA34288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514850"/>
            <a:ext cx="381000" cy="95250"/>
          </a:xfrm>
          <a:prstGeom xmlns:a="http://schemas.openxmlformats.org/drawingml/2006/main" prst="roundRect">
            <a:avLst>
              <a:gd name="adj" fmla="val 1200"/>
            </a:avLst>
          </a:prstGeom>
          <a:solidFill xmlns:a="http://schemas.openxmlformats.org/drawingml/2006/main">
            <a:srgbClr val="D6E0EA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3B5CB0B-9846-4402-B701-51F43F9D5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171950"/>
            <a:ext cx="552450" cy="152400"/>
          </a:xfrm>
          <a:prstGeom xmlns:a="http://schemas.openxmlformats.org/drawingml/2006/main" prst="roundRect">
            <a:avLst>
              <a:gd name="adj" fmla="val 1800"/>
            </a:avLst>
          </a:prstGeom>
          <a:solidFill xmlns:a="http://schemas.openxmlformats.org/drawingml/2006/main">
            <a:srgbClr val="E7F0FF"/>
          </a:solidFill>
          <a:ln xmlns:a="http://schemas.openxmlformats.org/drawingml/2006/main" w="14288">
            <a:solidFill>
              <a:srgbClr val="1F6FEB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1F6FEB"/>
                </a:solidFill>
              </a:defRPr>
            </a:pPr>
            <a:r>
              <a:rPr sz="600" b="1">
                <a:solidFill>
                  <a:srgbClr val="1F6FEB"/>
                </a:solidFill>
              </a:rPr>
              <a:t>懒加载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48ACB91-D959-4B8A-9BF7-A647BB170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495800"/>
            <a:ext cx="609600" cy="57150"/>
          </a:xfrm>
          <a:prstGeom xmlns:a="http://schemas.openxmlformats.org/drawingml/2006/main" prst="roundRect">
            <a:avLst>
              <a:gd name="adj" fmla="val 1000"/>
            </a:avLst>
          </a:prstGeom>
          <a:solidFill xmlns:a="http://schemas.openxmlformats.org/drawingml/2006/main">
            <a:srgbClr val="CCD8E4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5E41FC6-63CA-4641-B078-CE63458B1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591050"/>
            <a:ext cx="495300" cy="47625"/>
          </a:xfrm>
          <a:prstGeom xmlns:a="http://schemas.openxmlformats.org/drawingml/2006/main" prst="roundRect">
            <a:avLst>
              <a:gd name="adj" fmla="val 1000"/>
            </a:avLst>
          </a:prstGeom>
          <a:solidFill xmlns:a="http://schemas.openxmlformats.org/drawingml/2006/main">
            <a:srgbClr val="D6E0EA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168C963-6593-495A-AD58-F8C95F40E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057650"/>
            <a:ext cx="781050" cy="666750"/>
          </a:xfrm>
          <a:prstGeom xmlns:a="http://schemas.openxmlformats.org/drawingml/2006/main" prst="roundRect">
            <a:avLst>
              <a:gd name="adj" fmla="val 26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CE7F2"/>
            </a:solidFill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99E93E4-5111-48E4-9A70-EE01C436C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114800"/>
            <a:ext cx="666750" cy="304800"/>
          </a:xfrm>
          <a:prstGeom xmlns:a="http://schemas.openxmlformats.org/drawingml/2006/main" prst="roundRect">
            <a:avLst>
              <a:gd name="adj" fmla="val 2200"/>
            </a:avLst>
          </a:prstGeom>
          <a:solidFill xmlns:a="http://schemas.openxmlformats.org/drawingml/2006/main">
            <a:srgbClr val="FFF2D4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05B1A9A-81A2-4D5F-BFD9-BD62B8B88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210050"/>
            <a:ext cx="476250" cy="114300"/>
          </a:xfrm>
          <a:prstGeom xmlns:a="http://schemas.openxmlformats.org/drawingml/2006/main" prst="roundRect">
            <a:avLst>
              <a:gd name="adj" fmla="val 1800"/>
            </a:avLst>
          </a:prstGeom>
          <a:solidFill xmlns:a="http://schemas.openxmlformats.org/drawingml/2006/main">
            <a:srgbClr val="FFD89B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B7609D1-87F9-4C7D-8F6B-5380C6FA5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495800"/>
            <a:ext cx="609600" cy="57150"/>
          </a:xfrm>
          <a:prstGeom xmlns:a="http://schemas.openxmlformats.org/drawingml/2006/main" prst="roundRect">
            <a:avLst>
              <a:gd name="adj" fmla="val 1000"/>
            </a:avLst>
          </a:prstGeom>
          <a:solidFill xmlns:a="http://schemas.openxmlformats.org/drawingml/2006/main">
            <a:srgbClr val="CCD8E4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A3357E9-6EFA-46F7-AB44-B9CA2EBF7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591050"/>
            <a:ext cx="495300" cy="47625"/>
          </a:xfrm>
          <a:prstGeom xmlns:a="http://schemas.openxmlformats.org/drawingml/2006/main" prst="roundRect">
            <a:avLst>
              <a:gd name="adj" fmla="val 1000"/>
            </a:avLst>
          </a:prstGeom>
          <a:solidFill xmlns:a="http://schemas.openxmlformats.org/drawingml/2006/main">
            <a:srgbClr val="D6E0EA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66F0AAB-9D74-42E2-8618-B779F10E2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600200"/>
            <a:ext cx="1752600" cy="228600"/>
          </a:xfrm>
          <a:prstGeom xmlns:a="http://schemas.openxmlformats.org/drawingml/2006/main" prst="roundRect">
            <a:avLst>
              <a:gd name="adj" fmla="val 2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F444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EF4444"/>
                </a:solidFill>
              </a:defRPr>
            </a:pPr>
            <a:r>
              <a:rPr sz="1050" b="1">
                <a:solidFill>
                  <a:srgbClr val="EF4444"/>
                </a:solidFill>
              </a:rPr>
              <a:t>顶部白屏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9814089-A8F2-4E0A-BD90-75881BCAB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762500"/>
            <a:ext cx="1752600" cy="228600"/>
          </a:xfrm>
          <a:prstGeom xmlns:a="http://schemas.openxmlformats.org/drawingml/2006/main" prst="roundRect">
            <a:avLst>
              <a:gd name="adj" fmla="val 2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F444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EF4444"/>
                </a:solidFill>
              </a:defRPr>
            </a:pPr>
            <a:r>
              <a:rPr sz="1050" b="1">
                <a:solidFill>
                  <a:srgbClr val="EF4444"/>
                </a:solidFill>
              </a:rPr>
              <a:t>底部白屏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C716731-B126-4D6B-B5BD-D39E8F0E7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476750"/>
            <a:ext cx="647700" cy="2286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FFF2D4"/>
          </a:solidFill>
          <a:ln xmlns:a="http://schemas.openxmlformats.org/drawingml/2006/main" w="14288">
            <a:solidFill>
              <a:srgbClr val="F59E0B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9A5B00"/>
                </a:solidFill>
              </a:defRPr>
            </a:pPr>
            <a:r>
              <a:rPr sz="975" b="1">
                <a:solidFill>
                  <a:srgbClr val="9A5B00"/>
                </a:solidFill>
              </a:rPr>
              <a:t>GPU紧张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C415EC8-0F5E-437B-A774-32367040E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124450"/>
            <a:ext cx="1943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3"/>
                </a:solidFill>
              </a:defRPr>
            </a:pPr>
            <a:r>
              <a:rPr sz="1500" b="1">
                <a:solidFill>
                  <a:srgbClr val="0B1F33"/>
                </a:solidFill>
              </a:rPr>
              <a:t>双列瀑布流图文列表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146ED16-ECFE-4F32-9BCC-19CD9E53C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1657350"/>
            <a:ext cx="21907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11111"/>
            </a:solidFill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E7CFCAE-921B-4129-A052-E7F5D9439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8478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14288">
            <a:solidFill>
              <a:srgbClr val="111111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2C78980-9FF2-4729-8779-0BA4B5ED0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819275"/>
            <a:ext cx="13144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滚动节奏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891F2B42-F773-40E3-823A-237BF5C18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095500"/>
            <a:ext cx="1314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91911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B5563"/>
                </a:solidFill>
              </a:defRPr>
            </a:pPr>
            <a:r>
              <a:rPr sz="1050" b="0">
                <a:solidFill>
                  <a:srgbClr val="4B5563"/>
                </a:solidFill>
              </a:rPr>
              <a:t>Transform帧动画 + 阻尼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C8CCB894-AB91-448F-9AC5-67F97883E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933700"/>
            <a:ext cx="21907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11111"/>
            </a:solidFill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1F2DE1CD-0A67-4A8B-9A91-773FCBF9A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1242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14288">
            <a:solidFill>
              <a:srgbClr val="111111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A86AD2DF-BDE8-46FB-BECC-23191945D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095625"/>
            <a:ext cx="13144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只渲染窗口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CA412577-9A10-4892-BB0F-A63702E90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371850"/>
            <a:ext cx="1314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8981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B5563"/>
                </a:solidFill>
              </a:defRPr>
            </a:pPr>
            <a:r>
              <a:rPr sz="1050" b="0">
                <a:solidFill>
                  <a:srgbClr val="4B5563"/>
                </a:solidFill>
              </a:rPr>
              <a:t>虚拟列表减少DOM与图片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01763331-8A81-44A3-AB94-D613C9FF4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210050"/>
            <a:ext cx="21907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11111"/>
            </a:solidFill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494202E3-BFC6-4EAF-B787-26418F718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4005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14288">
            <a:solidFill>
              <a:srgbClr val="111111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EFB806BE-3946-4CCE-8FB1-A3B6264B8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371975"/>
            <a:ext cx="13144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图片后台处理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458F6D20-8043-4C53-BABE-466BE53AF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648200"/>
            <a:ext cx="1314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8981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B5563"/>
                </a:solidFill>
              </a:defRPr>
            </a:pPr>
            <a:r>
              <a:rPr sz="1050" b="0">
                <a:solidFill>
                  <a:srgbClr val="4B5563"/>
                </a:solidFill>
              </a:rPr>
              <a:t>Worker独立线程解码渲染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EB12E9D7-EB13-44A6-AC27-C7941427D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343275"/>
            <a:ext cx="285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AAFBBD91-29FA-4BDC-9EB3-4DDFAA61A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076450"/>
            <a:ext cx="228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9F924158-91C3-4835-AA6D-E64E549C1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352800"/>
            <a:ext cx="228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DC4AD071-F971-4FAF-9814-98D5B4250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629150"/>
            <a:ext cx="228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98255B1F-3264-4275-A019-81C75ED11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2076450"/>
            <a:ext cx="19050" cy="255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C38A8059-9521-4B5E-92F3-6310A93D1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676900"/>
            <a:ext cx="3524250" cy="3619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14288">
            <a:solidFill>
              <a:srgbClr val="111111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结果：滚动稳定、首屏不白、长列表不卡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E7FF185D-856C-4621-B5E9-3B20C1011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12395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76439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1F33"/>
                </a:solidFill>
              </a:defRPr>
            </a:pPr>
            <a:r>
              <a:rPr sz="2250" b="1">
                <a:solidFill>
                  <a:srgbClr val="0B1F33"/>
                </a:solidFill>
              </a:rPr>
              <a:t>项目痛点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CF729471-F5D7-4313-A7C8-193E925BC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5335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E331701F-D261-4B40-91D4-8AC73233F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44780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0778C"/>
                </a:solidFill>
              </a:defRPr>
            </a:pPr>
            <a:r>
              <a:rPr sz="1500" b="0">
                <a:solidFill>
                  <a:srgbClr val="60778C"/>
                </a:solidFill>
              </a:rPr>
              <a:t>长列表滚动内容多时，图片渲染慢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3191F031-3D8A-4D43-A93F-F290C477E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8764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EB7BAFFF-E4A1-40FC-8AF9-0841B07F3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79070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0778C"/>
                </a:solidFill>
              </a:defRPr>
            </a:pPr>
            <a:r>
              <a:rPr sz="1500" b="0">
                <a:solidFill>
                  <a:srgbClr val="60778C"/>
                </a:solidFill>
              </a:rPr>
              <a:t>快速滚动时，顶部或底部容易出现白屏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F0CC285F-7CF7-4AA7-9C0C-B99B923E1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2193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6E3B0918-53EC-4E52-8E54-8975AABC5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13360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0778C"/>
                </a:solidFill>
              </a:defRPr>
            </a:pPr>
            <a:r>
              <a:rPr sz="1500" b="0">
                <a:solidFill>
                  <a:srgbClr val="60778C"/>
                </a:solidFill>
              </a:rPr>
              <a:t>列表过长后，内存和GPU压力增大导致卡顿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2F2F37FF-CAD9-4A0B-B7E9-DC3BCDD94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362200"/>
            <a:ext cx="4286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1F33"/>
                </a:solidFill>
              </a:defRPr>
            </a:pPr>
            <a:r>
              <a:rPr sz="2250" b="1">
                <a:solidFill>
                  <a:srgbClr val="0B1F33"/>
                </a:solidFill>
              </a:rPr>
              <a:t>关键举措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83BA9FE9-43B9-4855-96DB-EC247441B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0289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544CDC04-0A83-4A64-8290-3B8EED2DB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914650"/>
            <a:ext cx="4229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3047"/>
                </a:solidFill>
              </a:defRPr>
            </a:pPr>
            <a:r>
              <a:rPr sz="1650" b="1">
                <a:solidFill>
                  <a:srgbClr val="163047"/>
                </a:solidFill>
              </a:rPr>
              <a:t>控制滚动速度，减少白屏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CE41D732-AB75-4C33-A370-BFD8D2A89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238500"/>
            <a:ext cx="4000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81029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0778C"/>
                </a:solidFill>
              </a:defRPr>
            </a:pPr>
            <a:r>
              <a:rPr sz="1500" b="0">
                <a:solidFill>
                  <a:srgbClr val="60778C"/>
                </a:solidFill>
              </a:rPr>
              <a:t>用 Transform 帧动画叠加阻尼系数，缓冲原生滚动过快带来的渲染追不上问题。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9F139826-6EF2-4F40-A965-B904503E0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2481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BC02C44A-665B-455A-AF40-3937E8DCB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133850"/>
            <a:ext cx="4229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3047"/>
                </a:solidFill>
              </a:defRPr>
            </a:pPr>
            <a:r>
              <a:rPr sz="1650" b="1">
                <a:solidFill>
                  <a:srgbClr val="163047"/>
                </a:solidFill>
              </a:rPr>
              <a:t>虚拟列表，只保留可见内容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33552047-0835-4878-B03A-5F86C4BCA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457700"/>
            <a:ext cx="4000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95017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0778C"/>
                </a:solidFill>
              </a:defRPr>
            </a:pPr>
            <a:r>
              <a:rPr sz="1500" b="0">
                <a:solidFill>
                  <a:srgbClr val="60778C"/>
                </a:solidFill>
              </a:rPr>
              <a:t>列表再长也只渲染视口附近元素，降低 DOM、内存、GPU 压力，并减少图片排队下载。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7CF84D55-39B8-4846-89A7-8A6276303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4673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61B1D4A6-D05C-436C-8825-774E533DF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353050"/>
            <a:ext cx="4229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3047"/>
                </a:solidFill>
              </a:defRPr>
            </a:pPr>
            <a:r>
              <a:rPr sz="1650" b="1">
                <a:solidFill>
                  <a:srgbClr val="163047"/>
                </a:solidFill>
              </a:rPr>
              <a:t>图片交给 Worker 后台处理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11128276-5C02-446D-AAF7-6756E3F52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676900"/>
            <a:ext cx="4000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0778C"/>
                </a:solidFill>
              </a:defRPr>
            </a:pPr>
            <a:r>
              <a:rPr sz="1500" b="0">
                <a:solidFill>
                  <a:srgbClr val="60778C"/>
                </a:solidFill>
              </a:rPr>
              <a:t>大图下载与解码放到独立线程，避免滚动主线程被阻塞，稳定 FPS、减少掉帧。</a:t>
            </a:r>
          </a:p>
        </p:txBody>
      </p:sp>
    </p:spTree>
    <p:extLst>
      <p:ext uri="{BB962C8B-B14F-4D97-AF65-F5344CB8AC3E}">
        <p14:creationId xmlns:p14="http://schemas.microsoft.com/office/powerpoint/2010/main" val="2046605905"/>
      </p:ext>
    </p:extLst>
  </p:cSld>
</p:sld>
</file>

<file path=ppt/theme/theme1.xml><?xml version="1.0" encoding="utf-8"?>
<a:theme xmlns:a="http://schemas.openxmlformats.org/drawingml/2006/main" name="WE Code Performance">
  <a:themeElements>
    <a:clrScheme name="WE Code Performance">
      <a:accent1>
        <a:srgbClr val="1F6FEB"/>
      </a:accent1>
      <a:accent2>
        <a:srgbClr val="13B8A6"/>
      </a:accent2>
      <a:accent3>
        <a:srgbClr val="F59E0B"/>
      </a:accent3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WE Code Performan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2026-04-25T07:33:17.4330000Z</dcterms:created>
  <dcterms:modified xsi:type="dcterms:W3CDTF">2026-04-25T07:33:17.4330000Z</dcterms:modified>
</coreProperties>
</file>